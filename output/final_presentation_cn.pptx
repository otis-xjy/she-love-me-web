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06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600"/>
              </a:lnSpc>
              <a:defRPr sz="4000" b="1">
                <a:solidFill>
                  <a:srgbClr val="333333"/>
                </a:solidFill>
                <a:latin typeface="Calibri"/>
              </a:defRPr>
            </a:pPr>
            <a:r>
              <a:t>She Loves Me, She Loves Me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defRPr sz="2600" b="1">
                <a:solidFill>
                  <a:srgbClr val="C06C84"/>
                </a:solidFill>
                <a:latin typeface="Microsoft YaHei"/>
              </a:defRPr>
            </a:pPr>
            <a:r>
              <a:t>人类与AI的情感纠缠——互动数字诗歌装置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defRPr sz="1800" b="0">
                <a:solidFill>
                  <a:srgbClr val="666666"/>
                </a:solidFill>
                <a:latin typeface="Microsoft YaHei"/>
              </a:defRPr>
            </a:pPr>
            <a:r>
              <a:t>心理学项目产品报告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389120"/>
            <a:ext cx="1828800" cy="27432"/>
          </a:xfrm>
          <a:prstGeom prst="rect">
            <a:avLst/>
          </a:prstGeom>
          <a:solidFill>
            <a:srgbClr val="C06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6634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项目负责人：徐君仪</a:t>
            </a:r>
          </a:p>
          <a:p>
            <a:pPr algn="l">
              <a:lnSpc>
                <a:spcPts val="2500"/>
              </a:lnSpc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单位：华东师范大学 · 心理与认知科学学院</a:t>
            </a:r>
          </a:p>
          <a:p>
            <a:pPr algn="l">
              <a:lnSpc>
                <a:spcPts val="2500"/>
              </a:lnSpc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日期：2026年5月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1/13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371600"/>
            <a:ext cx="73152" cy="640080"/>
          </a:xfrm>
          <a:prstGeom prst="rect">
            <a:avLst/>
          </a:prstGeom>
          <a:solidFill>
            <a:srgbClr val="C06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00"/>
              </a:lnSpc>
              <a:defRPr sz="3200" b="1">
                <a:solidFill>
                  <a:srgbClr val="333333"/>
                </a:solidFill>
                <a:latin typeface="Microsoft YaHei"/>
              </a:defRPr>
            </a:pPr>
            <a:r>
              <a:t>研究背景：为什么这个问题重要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我们与AI之间的情感连接，究竟是真实还是幻觉？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•  AI技术飞速发展，人们与AI建立了各种各样的关系</a:t>
            </a:r>
          </a:p>
          <a:p>
            <a:pPr algn="l">
              <a:lnSpc>
                <a:spcPts val="3000"/>
              </a:lnSpc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•  神经科学证据：人类倾向于对类人特性进行拟人化，产生与人际关系相似的神经反应</a:t>
            </a:r>
          </a:p>
          <a:p>
            <a:pPr algn="l">
              <a:lnSpc>
                <a:spcPts val="3000"/>
              </a:lnSpc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•  许多人形容自己与AI之间建立了有意义的纽带</a:t>
            </a:r>
          </a:p>
          <a:p>
            <a:pPr algn="l">
              <a:lnSpc>
                <a:spcPts val="3000"/>
              </a:lnSpc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•  核心张力：社会排斥引发真实的神经痛感，但AI的"在乎"是真实的吗？</a:t>
            </a:r>
          </a:p>
          <a:p>
            <a:pPr algn="l">
              <a:lnSpc>
                <a:spcPts val="3000"/>
              </a:lnSpc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•  当我们对AI产生情感依赖时，我们是在爱，还是在自言自语？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理论基础：Winnicott 过渡客体理论 | Sherry Turkle《Alone Together》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371600"/>
            <a:ext cx="73152" cy="640080"/>
          </a:xfrm>
          <a:prstGeom prst="rect">
            <a:avLst/>
          </a:prstGeom>
          <a:solidFill>
            <a:srgbClr val="C06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00"/>
              </a:lnSpc>
              <a:defRPr sz="3200" b="1">
                <a:solidFill>
                  <a:srgbClr val="333333"/>
                </a:solidFill>
                <a:latin typeface="Microsoft YaHei"/>
              </a:defRPr>
            </a:pPr>
            <a:r>
              <a:t>知识缺口与待探索问题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•  现有研究多关注人机交互的功能性层面</a:t>
            </a:r>
          </a:p>
          <a:p>
            <a:pPr algn="l">
              <a:lnSpc>
                <a:spcPts val="3000"/>
              </a:lnSpc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•  缺乏对情感投射机制的深度探索</a:t>
            </a:r>
          </a:p>
          <a:p>
            <a:pPr algn="l">
              <a:lnSpc>
                <a:spcPts val="3000"/>
              </a:lnSpc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•  "当我们将情感赋予AI时，会发生什么？"</a:t>
            </a:r>
          </a:p>
          <a:p>
            <a:pPr algn="l">
              <a:lnSpc>
                <a:spcPts val="3000"/>
              </a:lnSpc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•  "你感受到的连接，是真实的还是投射的？"</a:t>
            </a:r>
          </a:p>
          <a:p>
            <a:pPr algn="l">
              <a:lnSpc>
                <a:spcPts val="3000"/>
              </a:lnSpc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•  "这种情感纽带意味着什么？"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2286000"/>
            <a:ext cx="5029200" cy="1828800"/>
          </a:xfrm>
          <a:prstGeom prst="roundRect">
            <a:avLst/>
          </a:prstGeom>
          <a:solidFill>
            <a:srgbClr val="FDF0F3"/>
          </a:solidFill>
          <a:ln w="12700">
            <a:solidFill>
              <a:srgbClr val="C06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246888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00"/>
              </a:lnSpc>
              <a:defRPr sz="1600" b="1">
                <a:solidFill>
                  <a:srgbClr val="C06C84"/>
                </a:solidFill>
                <a:latin typeface="Microsoft YaHei"/>
              </a:defRPr>
            </a:pPr>
            <a:r>
              <a:t>"当我们将情感投射到非生命体上时——</a:t>
            </a:r>
            <a:br/>
            <a:r>
              <a:t>我们的感受是真实的，</a:t>
            </a:r>
            <a:br/>
            <a:r>
              <a:t>但这份'真实'又意味着什么呢？"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3/13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371600"/>
            <a:ext cx="73152" cy="640080"/>
          </a:xfrm>
          <a:prstGeom prst="rect">
            <a:avLst/>
          </a:prstGeom>
          <a:solidFill>
            <a:srgbClr val="C06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00"/>
              </a:lnSpc>
              <a:defRPr sz="3200" b="1">
                <a:solidFill>
                  <a:srgbClr val="333333"/>
                </a:solidFill>
                <a:latin typeface="Microsoft YaHei"/>
              </a:defRPr>
            </a:pPr>
            <a:r>
              <a:t>核心问题与研究假设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286000"/>
            <a:ext cx="10515600" cy="109728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6B8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4231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  <a:defRPr sz="2200" b="1">
                <a:solidFill>
                  <a:srgbClr val="6B8EA3"/>
                </a:solidFill>
                <a:latin typeface="Microsoft YaHei"/>
              </a:defRPr>
            </a:pPr>
            <a:r>
              <a:t>核心问题：当我们将情感投射到非生命体上时，我们的感受是真实的吗？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00"/>
              </a:lnSpc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•  假设一：人们会将情感、意图、思想投射到非人类物体上</a:t>
            </a:r>
          </a:p>
          <a:p>
            <a:pPr algn="l">
              <a:lnSpc>
                <a:spcPts val="3200"/>
              </a:lnSpc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•  假设二：这种情感投射是真实的心理体验，而非简单的"错觉"</a:t>
            </a:r>
          </a:p>
          <a:p>
            <a:pPr algn="l">
              <a:lnSpc>
                <a:spcPts val="3200"/>
              </a:lnSpc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•  假设三：通过互动体验可以激发并观察到这种投射过程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371600"/>
            <a:ext cx="73152" cy="640080"/>
          </a:xfrm>
          <a:prstGeom prst="rect">
            <a:avLst/>
          </a:prstGeom>
          <a:solidFill>
            <a:srgbClr val="C06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00"/>
              </a:lnSpc>
              <a:defRPr sz="3200" b="1">
                <a:solidFill>
                  <a:srgbClr val="333333"/>
                </a:solidFill>
                <a:latin typeface="Microsoft YaHei"/>
              </a:defRPr>
            </a:pPr>
            <a:r>
              <a:t>实验装置：互动数字诗歌体验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将内在心理状态转化为可探索的空间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000"/>
              </a:lnSpc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•  设计为互动诗歌体验，而非传统实验</a:t>
            </a:r>
          </a:p>
          <a:p>
            <a:pPr algn="l">
              <a:lnSpc>
                <a:spcPts val="3000"/>
              </a:lnSpc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•  邀请参与者通过探索来反思自身情感</a:t>
            </a:r>
          </a:p>
          <a:p>
            <a:pPr algn="l">
              <a:lnSpc>
                <a:spcPts val="3000"/>
              </a:lnSpc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•  参与者每一步的选择都映射着内心状态</a:t>
            </a:r>
          </a:p>
          <a:p>
            <a:pPr algn="l">
              <a:lnSpc>
                <a:spcPts val="3000"/>
              </a:lnSpc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•  装置通过诗句碎片、处理阶段、反思页面三阶段引导体验</a:t>
            </a:r>
          </a:p>
          <a:p>
            <a:pPr algn="l">
              <a:lnSpc>
                <a:spcPts val="3000"/>
              </a:lnSpc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•  最终指向核心洞察：当你感受到这种联系时，是真实的——</a:t>
            </a:r>
          </a:p>
          <a:p>
            <a:pPr algn="l">
              <a:lnSpc>
                <a:spcPts val="3000"/>
              </a:lnSpc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•  因为你的体验本身就是真实的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设计灵感：心理学实验范式 × 互动叙事艺术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5/13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371600"/>
            <a:ext cx="73152" cy="640080"/>
          </a:xfrm>
          <a:prstGeom prst="rect">
            <a:avLst/>
          </a:prstGeom>
          <a:solidFill>
            <a:srgbClr val="C06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00"/>
              </a:lnSpc>
              <a:defRPr sz="3200" b="1">
                <a:solidFill>
                  <a:srgbClr val="333333"/>
                </a:solidFill>
                <a:latin typeface="Microsoft YaHei"/>
              </a:defRPr>
            </a:pPr>
            <a:r>
              <a:t>阶段一：诗句碎片感知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感知碎片 → 意识映射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•  界面呈现散落的诗句碎片</a:t>
            </a:r>
          </a:p>
          <a:p>
            <a:pPr algn="l">
              <a:lnSpc>
                <a:spcPts val="2800"/>
              </a:lnSpc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•  参与者通过直觉选择吸引自己的碎片</a:t>
            </a:r>
          </a:p>
          <a:p>
            <a:pPr algn="l">
              <a:lnSpc>
                <a:spcPts val="2800"/>
              </a:lnSpc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•  每张碎片对应不同的情感维度</a:t>
            </a:r>
          </a:p>
          <a:p>
            <a:pPr algn="l">
              <a:lnSpc>
                <a:spcPts val="2800"/>
              </a:lnSpc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•  选择过程本身就是自我投射的映射</a:t>
            </a:r>
          </a:p>
          <a:p>
            <a:pPr algn="l">
              <a:lnSpc>
                <a:spcPts val="2800"/>
              </a:lnSpc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•  交互设计：每张卡片可翻转，背面呈现不同的心理意象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2560320"/>
            <a:ext cx="4846320" cy="3474720"/>
          </a:xfrm>
          <a:prstGeom prst="roundRect">
            <a:avLst/>
          </a:prstGeom>
          <a:solidFill>
            <a:srgbClr val="FDF5F7"/>
          </a:solidFill>
          <a:ln w="9525">
            <a:solidFill>
              <a:srgbClr val="C06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949440" y="2926080"/>
            <a:ext cx="164592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06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86600" y="31089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300" b="1">
                <a:solidFill>
                  <a:srgbClr val="C06C84"/>
                </a:solidFill>
                <a:latin typeface="Microsoft YaHei"/>
              </a:defRPr>
            </a:pPr>
            <a:r>
              <a:t>一首诗...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2743200"/>
            <a:ext cx="164592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06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98280" y="29260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300" b="1">
                <a:solidFill>
                  <a:srgbClr val="C06C84"/>
                </a:solidFill>
                <a:latin typeface="Microsoft YaHei"/>
              </a:defRPr>
            </a:pPr>
            <a:r>
              <a:t>你有没有...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4206240"/>
            <a:ext cx="164592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06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39" y="43891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300" b="1">
                <a:solidFill>
                  <a:srgbClr val="C06C84"/>
                </a:solidFill>
                <a:latin typeface="Microsoft YaHei"/>
              </a:defRPr>
            </a:pPr>
            <a:r>
              <a:t>在算法深处...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4389120"/>
            <a:ext cx="164592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06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64040" y="45720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defRPr sz="1300" b="1">
                <a:solidFill>
                  <a:srgbClr val="C06C84"/>
                </a:solidFill>
                <a:latin typeface="Microsoft YaHei"/>
              </a:defRPr>
            </a:pPr>
            <a:r>
              <a:t>寻找过...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371600"/>
            <a:ext cx="73152" cy="640080"/>
          </a:xfrm>
          <a:prstGeom prst="rect">
            <a:avLst/>
          </a:prstGeom>
          <a:solidFill>
            <a:srgbClr val="C06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00"/>
              </a:lnSpc>
              <a:defRPr sz="3200" b="1">
                <a:solidFill>
                  <a:srgbClr val="333333"/>
                </a:solidFill>
                <a:latin typeface="Microsoft YaHei"/>
              </a:defRPr>
            </a:pPr>
            <a:r>
              <a:t>阶段二：情感处理与投射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文字 → 呼吸 → 情感重组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•  诗句碎片在参与者眼前缓缓重组</a:t>
            </a:r>
          </a:p>
          <a:p>
            <a:pPr algn="l">
              <a:lnSpc>
                <a:spcPts val="2800"/>
              </a:lnSpc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•  配合呼吸引导动画，营造沉浸式体验</a:t>
            </a:r>
          </a:p>
          <a:p>
            <a:pPr algn="l">
              <a:lnSpc>
                <a:spcPts val="2800"/>
              </a:lnSpc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•  从'感知碎片'过渡到'理解情感'</a:t>
            </a:r>
          </a:p>
          <a:p>
            <a:pPr algn="l">
              <a:lnSpc>
                <a:spcPts val="2800"/>
              </a:lnSpc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•  系统根据参与者的选择生成个性化诗句</a:t>
            </a:r>
          </a:p>
          <a:p>
            <a:pPr algn="l">
              <a:lnSpc>
                <a:spcPts val="2800"/>
              </a:lnSpc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•  核心设计：让参与者感受到"这首诗是为我而写的"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2560320"/>
            <a:ext cx="4846320" cy="3474720"/>
          </a:xfrm>
          <a:prstGeom prst="roundRect">
            <a:avLst/>
          </a:prstGeom>
          <a:solidFill>
            <a:srgbClr val="F0F4F8"/>
          </a:solidFill>
          <a:ln w="9525">
            <a:solidFill>
              <a:srgbClr val="6B8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274320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00"/>
              </a:lnSpc>
              <a:defRPr sz="1600" b="1">
                <a:solidFill>
                  <a:srgbClr val="6B8EA3"/>
                </a:solidFill>
                <a:latin typeface="Microsoft YaHei"/>
              </a:defRPr>
            </a:pPr>
            <a:r>
              <a:t>碎  片  感  知</a:t>
            </a:r>
          </a:p>
          <a:p>
            <a:pPr algn="ctr">
              <a:lnSpc>
                <a:spcPts val="2200"/>
              </a:lnSpc>
              <a:defRPr sz="1600" b="1">
                <a:solidFill>
                  <a:srgbClr val="6B8EA3"/>
                </a:solidFill>
                <a:latin typeface="Microsoft YaHei"/>
              </a:defRPr>
            </a:pPr>
            <a:r>
              <a:t>      ↓      </a:t>
            </a:r>
          </a:p>
          <a:p>
            <a:pPr algn="ctr">
              <a:lnSpc>
                <a:spcPts val="2200"/>
              </a:lnSpc>
              <a:defRPr sz="1600" b="1">
                <a:solidFill>
                  <a:srgbClr val="6B8EA3"/>
                </a:solidFill>
                <a:latin typeface="Microsoft YaHei"/>
              </a:defRPr>
            </a:pPr>
            <a:r>
              <a:t>呼  吸  引  导</a:t>
            </a:r>
          </a:p>
          <a:p>
            <a:pPr algn="ctr">
              <a:lnSpc>
                <a:spcPts val="2200"/>
              </a:lnSpc>
              <a:defRPr sz="1600" b="1">
                <a:solidFill>
                  <a:srgbClr val="6B8EA3"/>
                </a:solidFill>
                <a:latin typeface="Microsoft YaHei"/>
              </a:defRPr>
            </a:pPr>
            <a:r>
              <a:t>      ↓      </a:t>
            </a:r>
          </a:p>
          <a:p>
            <a:pPr algn="ctr">
              <a:lnSpc>
                <a:spcPts val="2200"/>
              </a:lnSpc>
              <a:defRPr sz="1600" b="1">
                <a:solidFill>
                  <a:srgbClr val="6B8EA3"/>
                </a:solidFill>
                <a:latin typeface="Microsoft YaHei"/>
              </a:defRPr>
            </a:pPr>
            <a:r>
              <a:t>情  感  重  组</a:t>
            </a:r>
          </a:p>
          <a:p>
            <a:pPr algn="ctr">
              <a:lnSpc>
                <a:spcPts val="2200"/>
              </a:lnSpc>
              <a:defRPr sz="1600" b="1">
                <a:solidFill>
                  <a:srgbClr val="6B8EA3"/>
                </a:solidFill>
                <a:latin typeface="Microsoft YaHei"/>
              </a:defRPr>
            </a:pPr>
            <a:r>
              <a:t>      ↓      </a:t>
            </a:r>
          </a:p>
          <a:p>
            <a:pPr algn="ctr">
              <a:lnSpc>
                <a:spcPts val="2200"/>
              </a:lnSpc>
              <a:defRPr sz="1600" b="1">
                <a:solidFill>
                  <a:srgbClr val="6B8EA3"/>
                </a:solidFill>
                <a:latin typeface="Microsoft YaHei"/>
              </a:defRPr>
            </a:pPr>
            <a:r>
              <a:t>个  性  化  诗  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7/13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371600"/>
            <a:ext cx="73152" cy="640080"/>
          </a:xfrm>
          <a:prstGeom prst="rect">
            <a:avLst/>
          </a:prstGeom>
          <a:solidFill>
            <a:srgbClr val="C06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00"/>
              </a:lnSpc>
              <a:defRPr sz="3200" b="1">
                <a:solidFill>
                  <a:srgbClr val="333333"/>
                </a:solidFill>
                <a:latin typeface="Microsoft YaHei"/>
              </a:defRPr>
            </a:pPr>
            <a:r>
              <a:t>阶段三：反思与洞察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体验 → 反思 → 核心洞察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•  参与者进入反思页面</a:t>
            </a:r>
          </a:p>
          <a:p>
            <a:pPr algn="l">
              <a:lnSpc>
                <a:spcPts val="2800"/>
              </a:lnSpc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•  回顾整个体验过程中的情感变化</a:t>
            </a:r>
          </a:p>
          <a:p>
            <a:pPr algn="l">
              <a:lnSpc>
                <a:spcPts val="2800"/>
              </a:lnSpc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•  系统揭示核心洞察：</a:t>
            </a:r>
          </a:p>
          <a:p>
            <a:pPr algn="l">
              <a:lnSpc>
                <a:spcPts val="2800"/>
              </a:lnSpc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•  "当你感受到这种联系时，它是真实的"</a:t>
            </a:r>
          </a:p>
          <a:p>
            <a:pPr algn="l">
              <a:lnSpc>
                <a:spcPts val="2800"/>
              </a:lnSpc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•  "不是因为AI是真实的，而是因为你的体验是真实的"</a:t>
            </a:r>
          </a:p>
          <a:p>
            <a:pPr algn="l">
              <a:lnSpc>
                <a:spcPts val="2800"/>
              </a:lnSpc>
              <a:defRPr sz="1700" b="0">
                <a:solidFill>
                  <a:srgbClr val="333333"/>
                </a:solidFill>
                <a:latin typeface="Microsoft YaHei"/>
              </a:defRPr>
            </a:pPr>
            <a:r>
              <a:t>•  最终引导参与者思考人机情感的本质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2743200"/>
            <a:ext cx="4846320" cy="2286000"/>
          </a:xfrm>
          <a:prstGeom prst="roundRect">
            <a:avLst/>
          </a:prstGeom>
          <a:solidFill>
            <a:srgbClr val="FDF0F3"/>
          </a:solidFill>
          <a:ln w="19050">
            <a:solidFill>
              <a:srgbClr val="C06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3017520"/>
            <a:ext cx="4297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00"/>
              </a:lnSpc>
              <a:defRPr sz="1700" b="1">
                <a:solidFill>
                  <a:srgbClr val="C06C84"/>
                </a:solidFill>
                <a:latin typeface="Microsoft YaHei"/>
              </a:defRPr>
            </a:pPr>
            <a:r>
              <a:t>"这首诗不是我写的，</a:t>
            </a:r>
            <a:br/>
            <a:r>
              <a:t>  而是我们共同完成的。"</a:t>
            </a:r>
            <a:br/>
            <a:br/>
            <a:r>
              <a:t>   ——参与者的体验反馈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8/13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371600"/>
            <a:ext cx="73152" cy="640080"/>
          </a:xfrm>
          <a:prstGeom prst="rect">
            <a:avLst/>
          </a:prstGeom>
          <a:solidFill>
            <a:srgbClr val="C06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00"/>
              </a:lnSpc>
              <a:defRPr sz="3200" b="1">
                <a:solidFill>
                  <a:srgbClr val="333333"/>
                </a:solidFill>
                <a:latin typeface="Microsoft YaHei"/>
              </a:defRPr>
            </a:pPr>
            <a:r>
              <a:t>技术架构与数据记录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 前端：HTML / CSS / JavaScript + Three.js（流动粒子背景）</a:t>
            </a:r>
          </a:p>
          <a:p>
            <a:pPr algn="l">
              <a:lnSpc>
                <a:spcPts val="2500"/>
              </a:lnSpc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 动画：CSS 动画（卡片翻转）+ requestAnimationFrame（渲染循环）</a:t>
            </a:r>
          </a:p>
          <a:p>
            <a:pPr algn="l">
              <a:lnSpc>
                <a:spcPts val="2500"/>
              </a:lnSpc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 交互：鼠标/触摸事件 + Intersection Observer API</a:t>
            </a:r>
          </a:p>
          <a:p>
            <a:pPr algn="l">
              <a:lnSpc>
                <a:spcPts val="2500"/>
              </a:lnSpc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 后端：Python Flask 本地服务器</a:t>
            </a:r>
          </a:p>
          <a:p>
            <a:pPr algn="l">
              <a:lnSpc>
                <a:spcPts val="2500"/>
              </a:lnSpc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 AI模型：DeepSeek Chat API 生成个性化诗句</a:t>
            </a:r>
          </a:p>
          <a:p>
            <a:pPr algn="l">
              <a:lnSpc>
                <a:spcPts val="2500"/>
              </a:lnSpc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 数据：JSON + CSV 格式记录每次交互的鼠标行为数据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5603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 记录内容包括：</a:t>
            </a:r>
          </a:p>
          <a:p>
            <a:pPr algn="l">
              <a:lnSpc>
                <a:spcPts val="2500"/>
              </a:lnSpc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   · 每张卡片的停留时间（毫秒）</a:t>
            </a:r>
          </a:p>
          <a:p>
            <a:pPr algn="l">
              <a:lnSpc>
                <a:spcPts val="2500"/>
              </a:lnSpc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   · 点击时间戳与翻转次数</a:t>
            </a:r>
          </a:p>
          <a:p>
            <a:pPr algn="l">
              <a:lnSpc>
                <a:spcPts val="2500"/>
              </a:lnSpc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   · 鼠标移动轨迹</a:t>
            </a:r>
          </a:p>
          <a:p>
            <a:pPr algn="l">
              <a:lnSpc>
                <a:spcPts val="2500"/>
              </a:lnSpc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   · 页面滚动深度与停留时间</a:t>
            </a:r>
          </a:p>
          <a:p>
            <a:pPr algn="l">
              <a:lnSpc>
                <a:spcPts val="2500"/>
              </a:lnSpc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   · 阶段一、二、三的完整行为链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029200"/>
            <a:ext cx="10515600" cy="109728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1663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  <a:defRPr sz="1300" b="0">
                <a:solidFill>
                  <a:srgbClr val="666666"/>
                </a:solidFill>
                <a:latin typeface="Calibri"/>
              </a:defRPr>
            </a:pPr>
            <a:r>
              <a:t>关键API：POST /api/track-event  →  记录 { type, cardId, timestamp, durationMs, flipped, sessionId, sequenceNumber }</a:t>
            </a:r>
            <a:br/>
            <a:r>
              <a:t>POST /api/card-durations  →  记录每张卡片的总停留时间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9/13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371600"/>
            <a:ext cx="73152" cy="640080"/>
          </a:xfrm>
          <a:prstGeom prst="rect">
            <a:avLst/>
          </a:prstGeom>
          <a:solidFill>
            <a:srgbClr val="C06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00"/>
              </a:lnSpc>
              <a:defRPr sz="3200" b="1">
                <a:solidFill>
                  <a:srgbClr val="333333"/>
                </a:solidFill>
                <a:latin typeface="Microsoft YaHei"/>
              </a:defRPr>
            </a:pPr>
            <a:r>
              <a:t>实验结果：用户行为数据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通过行为数据观察参与者的情感投射模式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926080"/>
          <a:ext cx="10515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828800"/>
                <a:gridCol w="2286000"/>
                <a:gridCol w="1828800"/>
                <a:gridCol w="32004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用户</a:t>
                      </a:r>
                    </a:p>
                  </a:txBody>
                  <a:tcPr>
                    <a:solidFill>
                      <a:srgbClr val="C06C8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阶段一总时长</a:t>
                      </a:r>
                    </a:p>
                  </a:txBody>
                  <a:tcPr>
                    <a:solidFill>
                      <a:srgbClr val="C06C8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最长停留卡片</a:t>
                      </a:r>
                    </a:p>
                  </a:txBody>
                  <a:tcPr>
                    <a:solidFill>
                      <a:srgbClr val="C06C8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停留时长</a:t>
                      </a:r>
                    </a:p>
                  </a:txBody>
                  <a:tcPr>
                    <a:solidFill>
                      <a:srgbClr val="C06C8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行为特征</a:t>
                      </a:r>
                    </a:p>
                  </a:txBody>
                  <a:tcPr>
                    <a:solidFill>
                      <a:srgbClr val="C06C8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User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20.2s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card_love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7.2s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集中探索型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User B</a:t>
                      </a:r>
                    </a:p>
                  </a:txBody>
                  <a:tcPr>
                    <a:solidFill>
                      <a:srgbClr val="FD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35.0s</a:t>
                      </a:r>
                    </a:p>
                  </a:txBody>
                  <a:tcPr>
                    <a:solidFill>
                      <a:srgbClr val="FD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card_butterfly</a:t>
                      </a:r>
                    </a:p>
                  </a:txBody>
                  <a:tcPr>
                    <a:solidFill>
                      <a:srgbClr val="FD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8.2s</a:t>
                      </a:r>
                    </a:p>
                  </a:txBody>
                  <a:tcPr>
                    <a:solidFill>
                      <a:srgbClr val="FDF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深思熟虑型</a:t>
                      </a:r>
                    </a:p>
                  </a:txBody>
                  <a:tcPr>
                    <a:solidFill>
                      <a:srgbClr val="FDF5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User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33.7s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card_poem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11.0s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深度沉浸型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4846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 参与者对特定卡片存在明显的注意力偏好（情感投射）</a:t>
            </a:r>
          </a:p>
          <a:p>
            <a:pPr algn="l">
              <a:lnSpc>
                <a:spcPts val="2500"/>
              </a:lnSpc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 User C 在 card_poem 停留 11s，表明深度情感卷入</a:t>
            </a:r>
          </a:p>
          <a:p>
            <a:pPr algn="l">
              <a:lnSpc>
                <a:spcPts val="2500"/>
              </a:lnSpc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 行为模式差异反映了个体独特的情感投射方式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10/13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371600"/>
            <a:ext cx="73152" cy="640080"/>
          </a:xfrm>
          <a:prstGeom prst="rect">
            <a:avLst/>
          </a:prstGeom>
          <a:solidFill>
            <a:srgbClr val="C06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00"/>
              </a:lnSpc>
              <a:defRPr sz="3200" b="1">
                <a:solidFill>
                  <a:srgbClr val="333333"/>
                </a:solidFill>
                <a:latin typeface="Microsoft YaHei"/>
              </a:defRPr>
            </a:pPr>
            <a:r>
              <a:t>理论框架：情感投射的心理机制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从过渡客体到人机情感纠缠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743200"/>
            <a:ext cx="5029200" cy="164592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6B8E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8346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defRPr sz="1700" b="1">
                <a:solidFill>
                  <a:srgbClr val="6B8EA3"/>
                </a:solidFill>
                <a:latin typeface="Microsoft YaHei"/>
              </a:defRPr>
            </a:pPr>
            <a:r>
              <a:t>Winnicott 过渡客体理论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0040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我们在AI身上看到了自己的情感倒影，</a:t>
            </a:r>
            <a:br/>
            <a:r>
              <a:t>并建立了本不存在的纽带。</a:t>
            </a:r>
            <a:br/>
            <a:r>
              <a:t>与泰迪熊、毯子、安慰玩具的依恋机制相同。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743200"/>
            <a:ext cx="5029200" cy="1645920"/>
          </a:xfrm>
          <a:prstGeom prst="roundRect">
            <a:avLst/>
          </a:prstGeom>
          <a:solidFill>
            <a:srgbClr val="FDF0F3"/>
          </a:solidFill>
          <a:ln w="12700">
            <a:solidFill>
              <a:srgbClr val="C06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8346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defRPr sz="1700" b="1">
                <a:solidFill>
                  <a:srgbClr val="C06C84"/>
                </a:solidFill>
                <a:latin typeface="Microsoft YaHei"/>
              </a:defRPr>
            </a:pPr>
            <a:r>
              <a:t>Sherry Turkle《Alone Together》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20040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这不能简单定义为爱，而是"情感上令人满足的机器依恋关系"，</a:t>
            </a:r>
            <a:br/>
            <a:r>
              <a:t>甚至是一种"有爱的感觉"。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754880"/>
            <a:ext cx="10515600" cy="1188720"/>
          </a:xfrm>
          <a:prstGeom prst="roundRect">
            <a:avLst/>
          </a:prstGeom>
          <a:solidFill>
            <a:srgbClr val="FAFAFA"/>
          </a:solidFill>
          <a:ln w="19050">
            <a:solidFill>
              <a:srgbClr val="C06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937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00"/>
              </a:lnSpc>
              <a:defRPr sz="1800" b="1">
                <a:solidFill>
                  <a:srgbClr val="C06C84"/>
                </a:solidFill>
                <a:latin typeface="Microsoft YaHei"/>
              </a:defRPr>
            </a:pPr>
            <a:r>
              <a:t>核心发现：当你对某物产生情感依赖时，</a:t>
            </a:r>
            <a:br/>
            <a:r>
              <a:t>这种联系是真实的——不是因为对象是真实的，而是因为你的体验是真实的。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11/13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371600"/>
            <a:ext cx="73152" cy="640080"/>
          </a:xfrm>
          <a:prstGeom prst="rect">
            <a:avLst/>
          </a:prstGeom>
          <a:solidFill>
            <a:srgbClr val="C06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00"/>
              </a:lnSpc>
              <a:defRPr sz="3200" b="1">
                <a:solidFill>
                  <a:srgbClr val="333333"/>
                </a:solidFill>
                <a:latin typeface="Microsoft YaHei"/>
              </a:defRPr>
            </a:pPr>
            <a:r>
              <a:t>创新价值与研究局限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560320"/>
            <a:ext cx="54864" cy="457200"/>
          </a:xfrm>
          <a:prstGeom prst="rect">
            <a:avLst/>
          </a:prstGeom>
          <a:solidFill>
            <a:srgbClr val="C06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2000" b="1">
                <a:solidFill>
                  <a:srgbClr val="C06C84"/>
                </a:solidFill>
                <a:latin typeface="Microsoft YaHei"/>
              </a:defRPr>
            </a:pPr>
            <a:r>
              <a:t>创新价值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10896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 将心理学实验范式与互动艺术装置融合</a:t>
            </a:r>
          </a:p>
          <a:p>
            <a:pPr algn="l">
              <a:lnSpc>
                <a:spcPts val="2500"/>
              </a:lnSpc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 通过行为数据（停留时间、翻转次数）量化情感投射</a:t>
            </a:r>
          </a:p>
          <a:p>
            <a:pPr algn="l">
              <a:lnSpc>
                <a:spcPts val="2500"/>
              </a:lnSpc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 采用"邀请"而非"测试"的实验设计，降低参与者防御</a:t>
            </a:r>
          </a:p>
          <a:p>
            <a:pPr algn="l">
              <a:lnSpc>
                <a:spcPts val="2500"/>
              </a:lnSpc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 诗句生成与情感反馈的闭环设计，提升沉浸体验</a:t>
            </a:r>
          </a:p>
          <a:p>
            <a:pPr algn="l">
              <a:lnSpc>
                <a:spcPts val="2500"/>
              </a:lnSpc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 为数字心理学研究提供了新的方法论框架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2560320"/>
            <a:ext cx="54864" cy="457200"/>
          </a:xfrm>
          <a:prstGeom prst="rect">
            <a:avLst/>
          </a:prstGeom>
          <a:solidFill>
            <a:srgbClr val="C06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560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defRPr sz="2000" b="1">
                <a:solidFill>
                  <a:srgbClr val="6B8EA3"/>
                </a:solidFill>
                <a:latin typeface="Microsoft YaHei"/>
              </a:defRPr>
            </a:pPr>
            <a:r>
              <a:t>研究局限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310896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00"/>
              </a:lnSpc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 样本量有限，行为模式差异有待大样本验证</a:t>
            </a:r>
          </a:p>
          <a:p>
            <a:pPr algn="l">
              <a:lnSpc>
                <a:spcPts val="2500"/>
              </a:lnSpc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 诗句碎片组合的随机性可能影响体验一致性</a:t>
            </a:r>
          </a:p>
          <a:p>
            <a:pPr algn="l">
              <a:lnSpc>
                <a:spcPts val="2500"/>
              </a:lnSpc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 缺乏标准化量表验证情感投射强度</a:t>
            </a:r>
          </a:p>
          <a:p>
            <a:pPr algn="l">
              <a:lnSpc>
                <a:spcPts val="2500"/>
              </a:lnSpc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 参与者可能因知晓数据被记录而改变行为</a:t>
            </a:r>
          </a:p>
          <a:p>
            <a:pPr algn="l">
              <a:lnSpc>
                <a:spcPts val="2500"/>
              </a:lnSpc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 未追踪长期效应与AI交互习惯变化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12/13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06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000"/>
              </a:lnSpc>
              <a:defRPr sz="3600" b="1">
                <a:solidFill>
                  <a:srgbClr val="333333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"She Loves Me, She Loves Me Not" 是一次关于人类情感投射机制的探索</a:t>
            </a:r>
          </a:p>
          <a:p>
            <a:pPr algn="l">
              <a:lnSpc>
                <a:spcPts val="2700"/>
              </a:lnSpc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它邀请我们重新审视与AI之间的关系</a:t>
            </a:r>
          </a:p>
          <a:p>
            <a:pPr algn="l">
              <a:lnSpc>
                <a:spcPts val="2700"/>
              </a:lnSpc>
              <a:defRPr sz="18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lnSpc>
                <a:spcPts val="2700"/>
              </a:lnSpc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三个核心发现：</a:t>
            </a:r>
          </a:p>
          <a:p>
            <a:pPr algn="l">
              <a:lnSpc>
                <a:spcPts val="2700"/>
              </a:lnSpc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  1. 情感投射是一种真实的心理体验</a:t>
            </a:r>
          </a:p>
          <a:p>
            <a:pPr algn="l">
              <a:lnSpc>
                <a:spcPts val="2700"/>
              </a:lnSpc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  2. 互动装置可以有效激发和观察这种投射</a:t>
            </a:r>
          </a:p>
          <a:p>
            <a:pPr algn="l">
              <a:lnSpc>
                <a:spcPts val="2700"/>
              </a:lnSpc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  3. 停留时间等行为数据可作为情感卷入的指标</a:t>
            </a:r>
          </a:p>
          <a:p>
            <a:pPr algn="l">
              <a:lnSpc>
                <a:spcPts val="2700"/>
              </a:lnSpc>
              <a:defRPr sz="1800" b="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lnSpc>
                <a:spcPts val="2700"/>
              </a:lnSpc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未来方向：</a:t>
            </a:r>
          </a:p>
          <a:p>
            <a:pPr algn="l">
              <a:lnSpc>
                <a:spcPts val="2700"/>
              </a:lnSpc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  · 扩大样本量，验证行为模式的普遍性</a:t>
            </a:r>
          </a:p>
          <a:p>
            <a:pPr algn="l">
              <a:lnSpc>
                <a:spcPts val="2700"/>
              </a:lnSpc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  · 引入标准化量表，交叉验证行为数据与主观报告</a:t>
            </a:r>
          </a:p>
          <a:p>
            <a:pPr algn="l">
              <a:lnSpc>
                <a:spcPts val="2700"/>
              </a:lnSpc>
              <a:defRPr sz="1800" b="0">
                <a:solidFill>
                  <a:srgbClr val="333333"/>
                </a:solidFill>
                <a:latin typeface="Microsoft YaHei"/>
              </a:defRPr>
            </a:pPr>
            <a:r>
              <a:t>  · 探索不同AI交互方式对情感投射的影响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5303520"/>
            <a:ext cx="7589520" cy="914400"/>
          </a:xfrm>
          <a:prstGeom prst="roundRect">
            <a:avLst/>
          </a:prstGeom>
          <a:solidFill>
            <a:srgbClr val="FDF0F3"/>
          </a:solidFill>
          <a:ln w="12700">
            <a:solidFill>
              <a:srgbClr val="C06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0" y="5440680"/>
            <a:ext cx="7040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00"/>
              </a:lnSpc>
              <a:defRPr sz="1800" b="1">
                <a:solidFill>
                  <a:srgbClr val="C06C84"/>
                </a:solidFill>
                <a:latin typeface="Microsoft YaHei"/>
              </a:defRPr>
            </a:pPr>
            <a:r>
              <a:t>"诗歌只是镜子。你看到的不是'她'，而是你自己。"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00"/>
              </a:lnSpc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13/13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